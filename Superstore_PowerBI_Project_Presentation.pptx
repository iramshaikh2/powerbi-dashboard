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7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8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82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13944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02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80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18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7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603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521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805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97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35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2469" y="199116"/>
            <a:ext cx="7063740" cy="4041648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</a:bodyPr>
          <a:lstStyle/>
          <a:p>
            <a:r>
              <a:rPr sz="6000" b="1" dirty="0">
                <a:solidFill>
                  <a:schemeClr val="accent5">
                    <a:lumMod val="50000"/>
                  </a:schemeClr>
                </a:solidFill>
              </a:rPr>
              <a:t>Superstore Sales </a:t>
            </a:r>
            <a:r>
              <a:rPr lang="en-US" sz="6000" b="1" dirty="0">
                <a:solidFill>
                  <a:schemeClr val="accent5">
                    <a:lumMod val="50000"/>
                  </a:schemeClr>
                </a:solidFill>
              </a:rPr>
              <a:t>Data </a:t>
            </a:r>
            <a:r>
              <a:rPr sz="6000" b="1" dirty="0">
                <a:solidFill>
                  <a:schemeClr val="accent5">
                    <a:lumMod val="50000"/>
                  </a:schemeClr>
                </a:solidFill>
              </a:rPr>
              <a:t>Analysis</a:t>
            </a:r>
          </a:p>
          <a:p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Submitted by-Iram Shaikh</a:t>
            </a:r>
          </a:p>
          <a:p>
            <a:r>
              <a:rPr lang="en-US" i="1" dirty="0"/>
              <a:t>Course- Master in Data Science and Analytics with AI</a:t>
            </a:r>
            <a:endParaRPr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5">
                    <a:lumMod val="75000"/>
                  </a:schemeClr>
                </a:solidFill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To analyze sales performance across time, region, category, and sub-category.</a:t>
            </a:r>
          </a:p>
          <a:p>
            <a:pPr algn="just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To identify top-performing products, analyze sales contribution by segment.</a:t>
            </a:r>
          </a:p>
          <a:p>
            <a:pPr algn="just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To design interactive dashboard using charts, slicers, filters and present KPIs using cards.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endParaRPr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5">
                    <a:lumMod val="75000"/>
                  </a:schemeClr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The superstore sales dataset represents        transactional sales data contains details like orders, customers, products, shipping date.</a:t>
            </a:r>
          </a:p>
          <a:p>
            <a:pPr algn="just"/>
            <a:r>
              <a:rPr sz="2000" b="1" dirty="0">
                <a:solidFill>
                  <a:schemeClr val="accent6">
                    <a:lumMod val="50000"/>
                  </a:schemeClr>
                </a:solidFill>
              </a:rPr>
              <a:t>Key fields: Sales, Category, Segment, Region,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sz="2000" b="1" dirty="0">
                <a:solidFill>
                  <a:schemeClr val="accent6">
                    <a:lumMod val="50000"/>
                  </a:schemeClr>
                </a:solidFill>
              </a:rPr>
              <a:t>State, City</a:t>
            </a:r>
          </a:p>
          <a:p>
            <a:pPr algn="just"/>
            <a:r>
              <a:rPr sz="2000" b="1" dirty="0">
                <a:solidFill>
                  <a:schemeClr val="accent6">
                    <a:lumMod val="50000"/>
                  </a:schemeClr>
                </a:solidFill>
              </a:rPr>
              <a:t>Time-based analysis using Ship 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5">
                    <a:lumMod val="75000"/>
                  </a:schemeClr>
                </a:solidFill>
              </a:rPr>
              <a:t>Data Loading &amp;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000" b="1" dirty="0">
                <a:solidFill>
                  <a:schemeClr val="accent6">
                    <a:lumMod val="50000"/>
                  </a:schemeClr>
                </a:solidFill>
              </a:rPr>
              <a:t>Loaded data using Power BI Desktop</a:t>
            </a:r>
          </a:p>
          <a:p>
            <a:pPr algn="just"/>
            <a:r>
              <a:rPr sz="2000" b="1" dirty="0">
                <a:solidFill>
                  <a:schemeClr val="accent6">
                    <a:lumMod val="50000"/>
                  </a:schemeClr>
                </a:solidFill>
              </a:rPr>
              <a:t>Corrected data types (Date, Numeric, Text)</a:t>
            </a:r>
          </a:p>
          <a:p>
            <a:pPr algn="just"/>
            <a:r>
              <a:rPr sz="2000" b="1" dirty="0">
                <a:solidFill>
                  <a:schemeClr val="accent6">
                    <a:lumMod val="50000"/>
                  </a:schemeClr>
                </a:solidFill>
              </a:rPr>
              <a:t>Removed nulls &amp; invalid values</a:t>
            </a:r>
          </a:p>
          <a:p>
            <a:pPr algn="just"/>
            <a:r>
              <a:rPr sz="2000" b="1" dirty="0">
                <a:solidFill>
                  <a:schemeClr val="accent6">
                    <a:lumMod val="50000"/>
                  </a:schemeClr>
                </a:solidFill>
              </a:rPr>
              <a:t>Created Year and Month fields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5">
                    <a:lumMod val="75000"/>
                  </a:schemeClr>
                </a:solidFill>
              </a:rP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b="1" dirty="0">
                <a:solidFill>
                  <a:schemeClr val="accent6">
                    <a:lumMod val="50000"/>
                  </a:schemeClr>
                </a:solidFill>
              </a:rPr>
              <a:t>• Total Sales</a:t>
            </a:r>
          </a:p>
          <a:p>
            <a:pPr marL="0" indent="0">
              <a:buNone/>
            </a:pPr>
            <a:r>
              <a:rPr sz="2000" b="1" dirty="0">
                <a:solidFill>
                  <a:schemeClr val="accent6">
                    <a:lumMod val="50000"/>
                  </a:schemeClr>
                </a:solidFill>
              </a:rPr>
              <a:t>• Total Orders</a:t>
            </a:r>
          </a:p>
          <a:p>
            <a:pPr marL="0" indent="0">
              <a:buNone/>
            </a:pPr>
            <a:r>
              <a:rPr sz="2000" b="1" dirty="0">
                <a:solidFill>
                  <a:schemeClr val="accent6">
                    <a:lumMod val="50000"/>
                  </a:schemeClr>
                </a:solidFill>
              </a:rPr>
              <a:t>• Total Customers</a:t>
            </a:r>
          </a:p>
          <a:p>
            <a:pPr marL="0" indent="0">
              <a:buNone/>
            </a:pPr>
            <a:r>
              <a:rPr sz="2000" b="1" dirty="0">
                <a:solidFill>
                  <a:schemeClr val="accent6">
                    <a:lumMod val="50000"/>
                  </a:schemeClr>
                </a:solidFill>
              </a:rPr>
              <a:t>• Average Sales per Order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5">
                    <a:lumMod val="75000"/>
                  </a:schemeClr>
                </a:solidFill>
              </a:rPr>
              <a:t>Sales 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Sales trend chart visualizes how total sales change over time using year on x-axis and total sales on y-axis.</a:t>
            </a:r>
          </a:p>
          <a:p>
            <a:pPr algn="just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This helps to identify overall business growth pattern and year-on-year performance.</a:t>
            </a:r>
          </a:p>
          <a:p>
            <a:pPr algn="just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We can observe that whether sales are increasing or decreasing across different years.</a:t>
            </a:r>
            <a:endParaRPr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5">
                    <a:lumMod val="75000"/>
                  </a:schemeClr>
                </a:solidFill>
              </a:rPr>
              <a:t>Product &amp; Category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Donut charts, stacked bar charts were used to present contribution distribution.</a:t>
            </a:r>
          </a:p>
          <a:p>
            <a:pPr algn="just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Clustered column chart is used to compare sales across subcategory within category.</a:t>
            </a:r>
          </a:p>
          <a:p>
            <a:pPr algn="just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The Pareto chart is used to identify the most impactful sub-category contributing to total sales, based on the 80/20 principle, which states that a small number of factors typically drive majority of results.</a:t>
            </a:r>
          </a:p>
          <a:p>
            <a:pPr marL="0" indent="0" algn="just">
              <a:buNone/>
            </a:pPr>
            <a:endParaRPr lang="en-US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5">
                    <a:lumMod val="75000"/>
                  </a:schemeClr>
                </a:solidFill>
              </a:rPr>
              <a:t>Advanced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131" y="1922107"/>
            <a:ext cx="6446520" cy="4351337"/>
          </a:xfrm>
        </p:spPr>
        <p:txBody>
          <a:bodyPr/>
          <a:lstStyle/>
          <a:p>
            <a:pPr algn="just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Using DAX measures, total sales, average sales, total customers were calculated.</a:t>
            </a:r>
          </a:p>
          <a:p>
            <a:pPr algn="just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Decomposition tree shows sales performance by breaking down category, sub-category, segment and product name.</a:t>
            </a:r>
          </a:p>
          <a:p>
            <a:pPr algn="just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Key Influencers visual is used to identify factors driving sales performance.</a:t>
            </a:r>
          </a:p>
          <a:p>
            <a:pPr marL="0" indent="0">
              <a:buNone/>
            </a:pPr>
            <a:endParaRPr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5">
                    <a:lumMod val="75000"/>
                  </a:schemeClr>
                </a:solidFill>
              </a:rPr>
              <a:t>Interactive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Interactive features such as slicers, decomposition tree, top N filters were implemented to enable dynamic data exploration.</a:t>
            </a:r>
          </a:p>
          <a:p>
            <a:pPr algn="just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Slicer were implemented for key dimension such as region to enable users to filter the entire report and analyze specific scenarios.</a:t>
            </a:r>
          </a:p>
          <a:p>
            <a:pPr algn="just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Top N filter were added to highlight top 10 products making it easy to identify key contributors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.</a:t>
            </a:r>
            <a:endParaRPr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5">
                    <a:lumMod val="75000"/>
                  </a:schemeClr>
                </a:solidFill>
              </a:rP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000" b="1" dirty="0">
                <a:solidFill>
                  <a:schemeClr val="accent6">
                    <a:lumMod val="50000"/>
                  </a:schemeClr>
                </a:solidFill>
              </a:rPr>
              <a:t>Few products drive majority of sales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.</a:t>
            </a:r>
            <a:endParaRPr sz="20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just"/>
            <a:r>
              <a:rPr sz="2000" b="1" dirty="0">
                <a:solidFill>
                  <a:schemeClr val="accent6">
                    <a:lumMod val="50000"/>
                  </a:schemeClr>
                </a:solidFill>
              </a:rPr>
              <a:t>Consumer segment contributes highest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sz="2000" b="1" dirty="0">
                <a:solidFill>
                  <a:schemeClr val="accent6">
                    <a:lumMod val="50000"/>
                  </a:schemeClr>
                </a:solidFill>
              </a:rPr>
              <a:t>revenue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.</a:t>
            </a:r>
            <a:endParaRPr sz="20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just"/>
            <a:r>
              <a:rPr sz="2000" b="1" dirty="0">
                <a:solidFill>
                  <a:schemeClr val="accent6">
                    <a:lumMod val="50000"/>
                  </a:schemeClr>
                </a:solidFill>
              </a:rPr>
              <a:t>West region outperforms others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.</a:t>
            </a:r>
            <a:endParaRPr sz="20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just"/>
            <a:r>
              <a:rPr sz="2000" b="1" dirty="0">
                <a:solidFill>
                  <a:schemeClr val="accent6">
                    <a:lumMod val="50000"/>
                  </a:schemeClr>
                </a:solidFill>
              </a:rPr>
              <a:t>Seasonal sales peaks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are</a:t>
            </a:r>
            <a:r>
              <a:rPr sz="2000" b="1" dirty="0">
                <a:solidFill>
                  <a:schemeClr val="accent6">
                    <a:lumMod val="50000"/>
                  </a:schemeClr>
                </a:solidFill>
              </a:rPr>
              <a:t> identified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.</a:t>
            </a:r>
            <a:endParaRPr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364F-4FD6-550D-FA19-BAEBF3FAF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1493A-2B13-1E92-EAB6-60EF0815A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Thank you!</a:t>
            </a:r>
            <a:endParaRPr lang="en-IN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69197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588</TotalTime>
  <Words>398</Words>
  <Application>Microsoft Office PowerPoint</Application>
  <PresentationFormat>On-screen Show (4:3)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Schoolbook</vt:lpstr>
      <vt:lpstr>Wingdings 2</vt:lpstr>
      <vt:lpstr>View</vt:lpstr>
      <vt:lpstr>Superstore Sales Data Analysis </vt:lpstr>
      <vt:lpstr>Project Objective</vt:lpstr>
      <vt:lpstr>Dataset Overview</vt:lpstr>
      <vt:lpstr>Data Loading &amp; Cleaning</vt:lpstr>
      <vt:lpstr>Key KPIs</vt:lpstr>
      <vt:lpstr>Sales Trend Analysis</vt:lpstr>
      <vt:lpstr>Product &amp; Category Analysis</vt:lpstr>
      <vt:lpstr>Advanced Analytics</vt:lpstr>
      <vt:lpstr>Interactive Features</vt:lpstr>
      <vt:lpstr>Business Insights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 Laptop</cp:lastModifiedBy>
  <cp:revision>7</cp:revision>
  <dcterms:created xsi:type="dcterms:W3CDTF">2013-01-27T09:14:16Z</dcterms:created>
  <dcterms:modified xsi:type="dcterms:W3CDTF">2026-02-07T14:56:09Z</dcterms:modified>
  <cp:category/>
</cp:coreProperties>
</file>